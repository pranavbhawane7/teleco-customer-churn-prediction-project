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BM Plex Sans Bold" charset="1" panose="020B0803050203000203"/>
      <p:regular r:id="rId20"/>
    </p:embeddedFont>
    <p:embeddedFont>
      <p:font typeface="Montserrat Bold" charset="1" panose="00000800000000000000"/>
      <p:regular r:id="rId21"/>
    </p:embeddedFont>
    <p:embeddedFont>
      <p:font typeface="IBM Plex Sans" charset="1" panose="020B0503050203000203"/>
      <p:regular r:id="rId22"/>
    </p:embeddedFont>
    <p:embeddedFont>
      <p:font typeface="Montserrat Bold Italics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82B">
                    <a:alpha val="98000"/>
                  </a:srgbClr>
                </a:gs>
                <a:gs pos="55000">
                  <a:srgbClr val="07182B">
                    <a:alpha val="76000"/>
                  </a:srgbClr>
                </a:gs>
                <a:gs pos="100000">
                  <a:srgbClr val="07182B">
                    <a:alpha val="8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1390650"/>
            <a:ext cx="933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8C6F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END-TO-END ANALYTICS • MACHINE LEARNING • EXPLAINABILITY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66950"/>
            <a:ext cx="11049000" cy="123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Telco Customer Churn</a:t>
            </a:r>
          </a:p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 Using Machine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3886703"/>
            <a:ext cx="8763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5D2E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Predicting customer attrition and identifying churn drivers using advanced machine learning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048250"/>
            <a:ext cx="4953000" cy="1714500"/>
            <a:chOff x="0" y="0"/>
            <a:chExt cx="6604000" cy="228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31800" y="441325"/>
              <a:ext cx="5461000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250" b="true">
                  <a:solidFill>
                    <a:srgbClr val="1677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Revenue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31800" y="1149350"/>
              <a:ext cx="5461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Recurring income walks out the door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24600" y="5048250"/>
            <a:ext cx="4953000" cy="1714500"/>
            <a:chOff x="0" y="0"/>
            <a:chExt cx="6604000" cy="228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31800" y="441325"/>
              <a:ext cx="5461000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250" b="true">
                  <a:solidFill>
                    <a:srgbClr val="38C6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Acquisition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31800" y="1149350"/>
              <a:ext cx="5461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Replacement costs rise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0600" y="7143750"/>
            <a:ext cx="4953000" cy="1714500"/>
            <a:chOff x="0" y="0"/>
            <a:chExt cx="6604000" cy="2286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1800" y="441325"/>
              <a:ext cx="5461000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250" b="true">
                  <a:solidFill>
                    <a:srgbClr val="F5A6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CLV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1800" y="1149350"/>
              <a:ext cx="5461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Lifetime value contracts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24600" y="7143750"/>
            <a:ext cx="4953000" cy="1714500"/>
            <a:chOff x="0" y="0"/>
            <a:chExt cx="6604000" cy="2286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31800" y="441325"/>
              <a:ext cx="5461000" cy="440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250" b="true">
                  <a:solidFill>
                    <a:srgbClr val="E252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Uncertainty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31800" y="1149350"/>
              <a:ext cx="5461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Planning becomes less reliable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90600" y="781050"/>
            <a:ext cx="100012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 erodes value at every turn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0" y="1714500"/>
            <a:ext cx="99060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attrition reduces recurring revenue while forcing operators to spend more to replace lost relationships. The goal: identify likely churners early—and explain why.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096750" y="857250"/>
            <a:ext cx="4953000" cy="4095750"/>
          </a:xfrm>
          <a:custGeom>
            <a:avLst/>
            <a:gdLst/>
            <a:ahLst/>
            <a:cxnLst/>
            <a:rect r="r" b="b" t="t" l="l"/>
            <a:pathLst>
              <a:path h="4095750" w="4953000">
                <a:moveTo>
                  <a:pt x="0" y="0"/>
                </a:moveTo>
                <a:lnTo>
                  <a:pt x="4953000" y="0"/>
                </a:lnTo>
                <a:lnTo>
                  <a:pt x="495300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" t="0" r="-40" b="0"/>
            </a:stretch>
          </a:blipFill>
          <a:ln cap="rnd">
            <a:noFill/>
            <a:prstDash val="solid"/>
            <a:round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42950"/>
            <a:ext cx="119062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7,043 customers. One binary outcome.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466850"/>
            <a:ext cx="10477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compact view of who customers are, what they buy, and how they pay.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667000"/>
            <a:ext cx="4762500" cy="2952750"/>
            <a:chOff x="0" y="0"/>
            <a:chExt cx="6350000" cy="3937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3937000"/>
              <a:chOff x="0" y="0"/>
              <a:chExt cx="6350000" cy="3937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3937000"/>
              </a:xfrm>
              <a:custGeom>
                <a:avLst/>
                <a:gdLst/>
                <a:ahLst/>
                <a:cxnLst/>
                <a:rect r="r" b="b" t="t" l="l"/>
                <a:pathLst>
                  <a:path h="3937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07182B"/>
              </a:solidFill>
              <a:ln w="9525" cap="sq">
                <a:solidFill>
                  <a:srgbClr val="07182B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397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30200" y="482600"/>
              <a:ext cx="5334000" cy="1849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760"/>
                </a:lnSpc>
              </a:pPr>
              <a:r>
                <a:rPr lang="en-US" sz="8400" b="true">
                  <a:solidFill>
                    <a:srgbClr val="1677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7,043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57200" y="2311400"/>
              <a:ext cx="495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1677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CUSTOMER RECORDS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1500" y="2286000"/>
            <a:ext cx="4953000" cy="2571750"/>
            <a:chOff x="0" y="0"/>
            <a:chExt cx="6604000" cy="342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429000"/>
              <a:chOff x="0" y="0"/>
              <a:chExt cx="6604000" cy="342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825500" y="3429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1677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TARGET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25500" y="1222375"/>
              <a:ext cx="457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8A87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  RETAINED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825500" y="2162175"/>
              <a:ext cx="4572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E2525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CHURNED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600" y="6477000"/>
            <a:ext cx="3714750" cy="2333625"/>
            <a:chOff x="0" y="0"/>
            <a:chExt cx="4953000" cy="31115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953000" cy="3111500"/>
              <a:chOff x="0" y="0"/>
              <a:chExt cx="4953000" cy="3111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953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4953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55600" y="438150"/>
              <a:ext cx="4445000" cy="707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2"/>
                </a:lnSpc>
              </a:pPr>
              <a:r>
                <a:rPr lang="en-US" sz="16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Demographics</a:t>
              </a:r>
            </a:p>
            <a:p>
              <a:pPr algn="l">
                <a:lnSpc>
                  <a:spcPts val="2112"/>
                </a:lnSpc>
              </a:pPr>
              <a:r>
                <a:rPr lang="en-US" sz="16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Gender • Senior Citizen • Partner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38725" y="6477000"/>
            <a:ext cx="3714750" cy="2333625"/>
            <a:chOff x="0" y="0"/>
            <a:chExt cx="4953000" cy="31115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53000" cy="3111500"/>
              <a:chOff x="0" y="0"/>
              <a:chExt cx="4953000" cy="3111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953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953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55600" y="447675"/>
              <a:ext cx="4445000" cy="821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6"/>
                </a:lnSpc>
              </a:pPr>
              <a:r>
                <a:rPr lang="en-US" sz="19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Account</a:t>
              </a:r>
            </a:p>
            <a:p>
              <a:pPr algn="l">
                <a:lnSpc>
                  <a:spcPts val="2496"/>
                </a:lnSpc>
              </a:pPr>
              <a:r>
                <a:rPr lang="en-US" sz="19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Tenure • Contract • Payment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86850" y="6477000"/>
            <a:ext cx="3714750" cy="2333625"/>
            <a:chOff x="0" y="0"/>
            <a:chExt cx="4953000" cy="3111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953000" cy="3111500"/>
              <a:chOff x="0" y="0"/>
              <a:chExt cx="4953000" cy="3111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1677FF"/>
              </a:solidFill>
              <a:ln w="9525" cap="sq">
                <a:solidFill>
                  <a:srgbClr val="1677F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953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447675"/>
              <a:ext cx="4445000" cy="821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6"/>
                </a:lnSpc>
              </a:pPr>
              <a:r>
                <a:rPr lang="en-US" sz="19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Services</a:t>
              </a:r>
            </a:p>
            <a:p>
              <a:pPr algn="l">
                <a:lnSpc>
                  <a:spcPts val="2496"/>
                </a:lnSpc>
              </a:pPr>
              <a:r>
                <a:rPr lang="en-US" sz="19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Internet • Security • Support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34975" y="6477000"/>
            <a:ext cx="3714750" cy="2333625"/>
            <a:chOff x="0" y="0"/>
            <a:chExt cx="4953000" cy="31115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953000" cy="3111500"/>
              <a:chOff x="0" y="0"/>
              <a:chExt cx="4953000" cy="3111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53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4953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55600" y="438150"/>
              <a:ext cx="4445000" cy="707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12"/>
                </a:lnSpc>
              </a:pPr>
              <a:r>
                <a:rPr lang="en-US" sz="16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Billing</a:t>
              </a:r>
            </a:p>
            <a:p>
              <a:pPr algn="l">
                <a:lnSpc>
                  <a:spcPts val="2112"/>
                </a:lnSpc>
              </a:pPr>
              <a:r>
                <a:rPr lang="en-US" sz="165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Monthly Charges • Total Charges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47700"/>
            <a:ext cx="9525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 reveals a contract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63250" y="800100"/>
            <a:ext cx="6191250" cy="23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650" b="true">
                <a:solidFill>
                  <a:srgbClr val="1677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Month-to-month contracts show the highest churn risk.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30047" y="1781798"/>
            <a:ext cx="3540605" cy="377065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20008" y="1540479"/>
            <a:ext cx="6895284" cy="425329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89065" y="1509892"/>
            <a:ext cx="6901571" cy="4314467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609431" y="4075498"/>
            <a:ext cx="19163960" cy="66127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42950"/>
            <a:ext cx="128587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raw records to model-ready signals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466850"/>
            <a:ext cx="11620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governed sequence removes noise, standardizes meaning, and retains the features that matter.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3619500"/>
            <a:ext cx="2381250" cy="1428750"/>
            <a:chOff x="0" y="0"/>
            <a:chExt cx="31750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7182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cleaning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467100" y="4333875"/>
            <a:ext cx="723900" cy="0"/>
          </a:xfrm>
          <a:prstGeom prst="line">
            <a:avLst/>
          </a:prstGeom>
          <a:ln cap="rnd" w="4762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24350" y="3619500"/>
            <a:ext cx="2381250" cy="1428750"/>
            <a:chOff x="0" y="0"/>
            <a:chExt cx="317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718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Missing value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handling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800850" y="4333875"/>
            <a:ext cx="723900" cy="0"/>
          </a:xfrm>
          <a:prstGeom prst="line">
            <a:avLst/>
          </a:prstGeom>
          <a:ln cap="rnd" w="4762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658100" y="3619500"/>
            <a:ext cx="2381250" cy="1428750"/>
            <a:chOff x="0" y="0"/>
            <a:chExt cx="3175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718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Type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conversion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134600" y="4333875"/>
            <a:ext cx="723900" cy="0"/>
          </a:xfrm>
          <a:prstGeom prst="line">
            <a:avLst/>
          </a:prstGeom>
          <a:ln cap="rnd" w="4762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991850" y="3619500"/>
            <a:ext cx="2381250" cy="1428750"/>
            <a:chOff x="0" y="0"/>
            <a:chExt cx="3175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Categorical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encoding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468350" y="4333875"/>
            <a:ext cx="723900" cy="0"/>
          </a:xfrm>
          <a:prstGeom prst="line">
            <a:avLst/>
          </a:prstGeom>
          <a:ln cap="rnd" w="4762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325600" y="3619500"/>
            <a:ext cx="2381250" cy="1428750"/>
            <a:chOff x="0" y="0"/>
            <a:chExt cx="3175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813560"/>
                  </a:lnTo>
                  <a:cubicBezTo>
                    <a:pt x="3175000" y="1864061"/>
                    <a:pt x="3134061" y="1905000"/>
                    <a:pt x="3083560" y="1905000"/>
                  </a:cubicBezTo>
                  <a:lnTo>
                    <a:pt x="91440" y="1905000"/>
                  </a:lnTo>
                  <a:cubicBezTo>
                    <a:pt x="40939" y="1905000"/>
                    <a:pt x="0" y="1864061"/>
                    <a:pt x="0" y="1813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0718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317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Feature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selection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20500" y="6477000"/>
            <a:ext cx="5334000" cy="2095500"/>
            <a:chOff x="0" y="0"/>
            <a:chExt cx="7112000" cy="2794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112000" cy="2794000"/>
              <a:chOff x="0" y="0"/>
              <a:chExt cx="7112000" cy="2794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112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EAF2FF"/>
              </a:solidFill>
              <a:ln w="9525" cap="sq">
                <a:solidFill>
                  <a:srgbClr val="EAF2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7112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62000" y="469900"/>
              <a:ext cx="508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1677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Encoding example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62000" y="1285875"/>
              <a:ext cx="5842000" cy="634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94"/>
                </a:lnSpc>
              </a:pPr>
              <a:r>
                <a:rPr lang="en-US" sz="292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YES  →  1       NO  →  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23900"/>
            <a:ext cx="1238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Scale the signal. Balance the learning.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095500"/>
            <a:ext cx="5619750" cy="6477000"/>
            <a:chOff x="0" y="0"/>
            <a:chExt cx="7493000" cy="863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493000" cy="8636000"/>
              <a:chOff x="0" y="0"/>
              <a:chExt cx="7493000" cy="863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493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7493000">
                    <a:moveTo>
                      <a:pt x="0" y="0"/>
                    </a:moveTo>
                    <a:lnTo>
                      <a:pt x="7493000" y="0"/>
                    </a:lnTo>
                    <a:lnTo>
                      <a:pt x="7493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493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03200" y="333375"/>
              <a:ext cx="5461000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true">
                  <a:solidFill>
                    <a:srgbClr val="1677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StandardScaler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03200" y="1231900"/>
              <a:ext cx="6604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Centers numerical features around zero and aligns variance—so magnitude does not dominate learning.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03200" y="3705225"/>
              <a:ext cx="6096000" cy="171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10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TENURE</a:t>
              </a:r>
            </a:p>
            <a:p>
              <a:pPr algn="l">
                <a:lnSpc>
                  <a:spcPts val="3569"/>
                </a:lnSpc>
              </a:pPr>
              <a:r>
                <a:rPr lang="en-US" sz="210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MONTHLY CHARGES</a:t>
              </a:r>
            </a:p>
            <a:p>
              <a:pPr algn="l">
                <a:lnSpc>
                  <a:spcPts val="3569"/>
                </a:lnSpc>
              </a:pPr>
              <a:r>
                <a:rPr lang="en-US" sz="2100" b="true">
                  <a:solidFill>
                    <a:srgbClr val="182536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TOTAL CHARGES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08160" y="1216313"/>
            <a:ext cx="11377181" cy="6520875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0858500" y="7239000"/>
            <a:ext cx="6096000" cy="2000250"/>
            <a:chOff x="0" y="0"/>
            <a:chExt cx="8128000" cy="2667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28000" cy="2667000"/>
              <a:chOff x="0" y="0"/>
              <a:chExt cx="8128000" cy="2667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0" cy="2667000"/>
              </a:xfrm>
              <a:custGeom>
                <a:avLst/>
                <a:gdLst/>
                <a:ahLst/>
                <a:cxnLst/>
                <a:rect r="r" b="b" t="t" l="l"/>
                <a:pathLst>
                  <a:path h="2667000" w="8128000">
                    <a:moveTo>
                      <a:pt x="0" y="0"/>
                    </a:moveTo>
                    <a:lnTo>
                      <a:pt x="8128000" y="0"/>
                    </a:lnTo>
                    <a:lnTo>
                      <a:pt x="8128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EAF2FF"/>
              </a:solidFill>
              <a:ln w="9525" cap="sq">
                <a:solidFill>
                  <a:srgbClr val="EAF2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128000" cy="270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35000" y="333375"/>
              <a:ext cx="2794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677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SMOTE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00" y="1123950"/>
              <a:ext cx="7239000" cy="702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Synthetic minority samples rebalance the training set and improve minority-class learning.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81050"/>
            <a:ext cx="13335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pipeline. Ten disciplined decisions.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485900"/>
            <a:ext cx="7620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5D2E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 source data to trusted action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3143250"/>
            <a:ext cx="2381250" cy="1238250"/>
            <a:chOff x="0" y="0"/>
            <a:chExt cx="3175000" cy="165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Collection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467100" y="376237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324350" y="3143250"/>
            <a:ext cx="2381250" cy="1238250"/>
            <a:chOff x="0" y="0"/>
            <a:chExt cx="3175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Cleaning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800850" y="376237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658100" y="3143250"/>
            <a:ext cx="2381250" cy="1238250"/>
            <a:chOff x="0" y="0"/>
            <a:chExt cx="3175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Encoding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134600" y="376237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991850" y="3143250"/>
            <a:ext cx="2381250" cy="1238250"/>
            <a:chOff x="0" y="0"/>
            <a:chExt cx="3175000" cy="165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Train–Test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Split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468350" y="376237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325600" y="3143250"/>
            <a:ext cx="2381250" cy="1238250"/>
            <a:chOff x="0" y="0"/>
            <a:chExt cx="3175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Feature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Scaling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0600" y="6286500"/>
            <a:ext cx="2381250" cy="1238250"/>
            <a:chOff x="0" y="0"/>
            <a:chExt cx="3175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SMOTE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3467100" y="690562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324350" y="6286500"/>
            <a:ext cx="2381250" cy="1238250"/>
            <a:chOff x="0" y="0"/>
            <a:chExt cx="3175000" cy="165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Model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Training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6800850" y="690562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7658100" y="6286500"/>
            <a:ext cx="2381250" cy="1238250"/>
            <a:chOff x="0" y="0"/>
            <a:chExt cx="3175000" cy="165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Model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Evaluation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0134600" y="690562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991850" y="6286500"/>
            <a:ext cx="2381250" cy="1238250"/>
            <a:chOff x="0" y="0"/>
            <a:chExt cx="3175000" cy="165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SHAP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3468350" y="6905625"/>
            <a:ext cx="714375" cy="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325600" y="6286500"/>
            <a:ext cx="2381250" cy="1238250"/>
            <a:chOff x="0" y="0"/>
            <a:chExt cx="3175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75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559560"/>
                  </a:lnTo>
                  <a:cubicBezTo>
                    <a:pt x="3175000" y="1610061"/>
                    <a:pt x="3134061" y="1651000"/>
                    <a:pt x="3083560" y="1651000"/>
                  </a:cubicBezTo>
                  <a:lnTo>
                    <a:pt x="91440" y="1651000"/>
                  </a:lnTo>
                  <a:cubicBezTo>
                    <a:pt x="40939" y="1651000"/>
                    <a:pt x="0" y="1610061"/>
                    <a:pt x="0" y="1559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175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Business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Action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6668750" y="3762375"/>
            <a:ext cx="0" cy="3143250"/>
          </a:xfrm>
          <a:prstGeom prst="line">
            <a:avLst/>
          </a:prstGeom>
          <a:ln cap="rnd" w="38100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23900"/>
            <a:ext cx="11430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models. Different strengths.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381250"/>
            <a:ext cx="4953000" cy="6191250"/>
            <a:chOff x="0" y="0"/>
            <a:chExt cx="6604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8255000"/>
              <a:chOff x="0" y="0"/>
              <a:chExt cx="6604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6604000" cy="177800"/>
              <a:chOff x="0" y="0"/>
              <a:chExt cx="6604000" cy="177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6040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38C6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6040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33400" y="819150"/>
              <a:ext cx="5461000" cy="126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0"/>
                </a:lnSpc>
              </a:pPr>
              <a:r>
                <a:rPr lang="en-US" sz="352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Logistic</a:t>
              </a:r>
            </a:p>
            <a:p>
              <a:pPr algn="l">
                <a:lnSpc>
                  <a:spcPts val="3630"/>
                </a:lnSpc>
              </a:pPr>
              <a:r>
                <a:rPr lang="en-US" sz="352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Regression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33400" y="2755900"/>
              <a:ext cx="5461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38C6F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Interpretable baseline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33400" y="3835400"/>
              <a:ext cx="5461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Fast, transparent probability estimates. Best for directional understanding and benchmarking.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9850" y="2381250"/>
            <a:ext cx="4953000" cy="6191250"/>
            <a:chOff x="0" y="0"/>
            <a:chExt cx="6604000" cy="8255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0" cy="8255000"/>
              <a:chOff x="0" y="0"/>
              <a:chExt cx="6604000" cy="825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6604000" cy="177800"/>
              <a:chOff x="0" y="0"/>
              <a:chExt cx="6604000" cy="177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0718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33400" y="819150"/>
              <a:ext cx="5461000" cy="126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0"/>
                </a:lnSpc>
              </a:pPr>
              <a:r>
                <a:rPr lang="en-US" sz="352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Random</a:t>
              </a:r>
            </a:p>
            <a:p>
              <a:pPr algn="l">
                <a:lnSpc>
                  <a:spcPts val="3630"/>
                </a:lnSpc>
              </a:pPr>
              <a:r>
                <a:rPr lang="en-US" sz="352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Forest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33400" y="2755900"/>
              <a:ext cx="5461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0718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Robust ensemble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33400" y="3835400"/>
              <a:ext cx="5461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Captures non-linear patterns and interactions with limited tuning. Strong general-purpose challenger.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49100" y="2381250"/>
            <a:ext cx="4953000" cy="6191250"/>
            <a:chOff x="0" y="0"/>
            <a:chExt cx="6604000" cy="8255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604000" cy="8255000"/>
              <a:chOff x="0" y="0"/>
              <a:chExt cx="6604000" cy="8255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04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07182B"/>
              </a:solidFill>
              <a:ln w="9525" cap="sq">
                <a:solidFill>
                  <a:srgbClr val="1677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604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604000" cy="177800"/>
              <a:chOff x="0" y="0"/>
              <a:chExt cx="6604000" cy="177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040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6040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33400" y="819150"/>
              <a:ext cx="5461000" cy="65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0"/>
                </a:lnSpc>
              </a:pPr>
              <a:r>
                <a:rPr lang="en-US" sz="35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XGBoost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33400" y="2755900"/>
              <a:ext cx="5461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38C6F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BEST PERFORMER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33400" y="3835400"/>
              <a:ext cx="5461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D4E2F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Gradient boosting delivers superior discrimination, generalization, and resilience on imbalanced data.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1047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Evaluate for the cost of a miss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54000" y="714375"/>
            <a:ext cx="39052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E252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Recall matters most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4000" y="1238250"/>
            <a:ext cx="3905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false negative is a customer we fail to save.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0600" y="2000250"/>
            <a:ext cx="2857500" cy="876300"/>
            <a:chOff x="0" y="0"/>
            <a:chExt cx="3810000" cy="11684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3810000" cy="1168400"/>
              <a:chOff x="0" y="0"/>
              <a:chExt cx="3810000" cy="1168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81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81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69875"/>
              <a:ext cx="381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Accuracy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48150" y="2000250"/>
            <a:ext cx="2857500" cy="876300"/>
            <a:chOff x="0" y="0"/>
            <a:chExt cx="3810000" cy="11684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810000" cy="1168400"/>
              <a:chOff x="0" y="0"/>
              <a:chExt cx="3810000" cy="1168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81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81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269875"/>
              <a:ext cx="381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Precision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05700" y="2000250"/>
            <a:ext cx="2857500" cy="876300"/>
            <a:chOff x="0" y="0"/>
            <a:chExt cx="3810000" cy="1168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3810000" cy="1168400"/>
              <a:chOff x="0" y="0"/>
              <a:chExt cx="3810000" cy="1168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81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1677FF"/>
              </a:solidFill>
              <a:ln w="9525" cap="sq">
                <a:solidFill>
                  <a:srgbClr val="1677F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81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269875"/>
              <a:ext cx="381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Recall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63250" y="2000250"/>
            <a:ext cx="2857500" cy="876300"/>
            <a:chOff x="0" y="0"/>
            <a:chExt cx="3810000" cy="1168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810000" cy="1168400"/>
              <a:chOff x="0" y="0"/>
              <a:chExt cx="3810000" cy="1168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81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81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69875"/>
              <a:ext cx="381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F1 Score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20800" y="2000250"/>
            <a:ext cx="2857500" cy="876300"/>
            <a:chOff x="0" y="0"/>
            <a:chExt cx="3810000" cy="11684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810000" cy="1168400"/>
              <a:chOff x="0" y="0"/>
              <a:chExt cx="3810000" cy="1168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810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810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69875"/>
              <a:ext cx="3810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ROC–AUC</a:t>
              </a:r>
            </a:p>
          </p:txBody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14751" y="3029923"/>
            <a:ext cx="8781198" cy="6322652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59637" y="2961091"/>
            <a:ext cx="9188726" cy="64603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23900"/>
            <a:ext cx="12573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wins on the decisions that matter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485900"/>
            <a:ext cx="13335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5D2E3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discrimination • non-linear learning • strong generalization • imbalance resilience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4500" y="3429000"/>
            <a:ext cx="1809750" cy="952500"/>
            <a:chOff x="0" y="0"/>
            <a:chExt cx="2413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1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524250" y="3905250"/>
            <a:ext cx="3619500" cy="857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91000" y="3429000"/>
            <a:ext cx="1809750" cy="952500"/>
            <a:chOff x="0" y="0"/>
            <a:chExt cx="2413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2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000750" y="3905250"/>
            <a:ext cx="1143000" cy="857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667500" y="3429000"/>
            <a:ext cx="1809750" cy="952500"/>
            <a:chOff x="0" y="0"/>
            <a:chExt cx="2413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3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H="true">
            <a:off x="7143750" y="3905250"/>
            <a:ext cx="1333500" cy="857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714500" y="5524500"/>
            <a:ext cx="1809750" cy="952500"/>
            <a:chOff x="0" y="0"/>
            <a:chExt cx="2413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4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3524250" y="4762500"/>
            <a:ext cx="3619500" cy="1238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4191000" y="5524500"/>
            <a:ext cx="1809750" cy="952500"/>
            <a:chOff x="0" y="0"/>
            <a:chExt cx="2413000" cy="127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7355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6000750" y="4762500"/>
            <a:ext cx="1143000" cy="1238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6667500" y="5524500"/>
            <a:ext cx="1809750" cy="952500"/>
            <a:chOff x="0" y="0"/>
            <a:chExt cx="2413000" cy="127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2413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 6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7143750" y="4762500"/>
            <a:ext cx="1333500" cy="1238250"/>
          </a:xfrm>
          <a:prstGeom prst="line">
            <a:avLst/>
          </a:prstGeom>
          <a:ln cap="flat" w="28575">
            <a:solidFill>
              <a:srgbClr val="38C6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7048500" y="3714750"/>
            <a:ext cx="4191000" cy="2190750"/>
            <a:chOff x="0" y="0"/>
            <a:chExt cx="5588000" cy="2921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588000" cy="2921000"/>
              <a:chOff x="0" y="0"/>
              <a:chExt cx="5588000" cy="2921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588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588000">
                    <a:moveTo>
                      <a:pt x="0" y="0"/>
                    </a:moveTo>
                    <a:lnTo>
                      <a:pt x="5588000" y="0"/>
                    </a:lnTo>
                    <a:lnTo>
                      <a:pt x="5588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677FF"/>
              </a:solidFill>
              <a:ln w="9525" cap="sq">
                <a:solidFill>
                  <a:srgbClr val="1677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5588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17500" y="612775"/>
              <a:ext cx="4953000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XGBoost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20500" y="3048000"/>
            <a:ext cx="5334000" cy="5429250"/>
            <a:chOff x="0" y="0"/>
            <a:chExt cx="7112000" cy="7239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112000" cy="7239000"/>
              <a:chOff x="0" y="0"/>
              <a:chExt cx="7112000" cy="7239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1120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102B48"/>
              </a:solidFill>
              <a:ln w="9525" cap="sq">
                <a:solidFill>
                  <a:srgbClr val="244765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71120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762000" y="469900"/>
              <a:ext cx="495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38C6F4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FINAL PERFORMANCE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62000" y="1282700"/>
              <a:ext cx="5334000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1"/>
                </a:lnSpc>
              </a:pPr>
              <a:r>
                <a:rPr lang="en-US" sz="26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Accuracy   — 77.52%</a:t>
              </a:r>
            </a:p>
            <a:p>
              <a:pPr algn="l">
                <a:lnSpc>
                  <a:spcPts val="4331"/>
                </a:lnSpc>
              </a:pPr>
              <a:r>
                <a:rPr lang="en-US" sz="26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Recall       —  58.00%</a:t>
              </a:r>
            </a:p>
            <a:p>
              <a:pPr algn="l">
                <a:lnSpc>
                  <a:spcPts val="4331"/>
                </a:lnSpc>
              </a:pPr>
              <a:r>
                <a:rPr lang="en-US" sz="26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F1 Score    — 58.00%</a:t>
              </a:r>
            </a:p>
            <a:p>
              <a:pPr algn="l">
                <a:lnSpc>
                  <a:spcPts val="4331"/>
                </a:lnSpc>
              </a:pPr>
              <a:r>
                <a:rPr lang="en-US" sz="2625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ROC–AUC   — 64.61%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9525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 every prediction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90650"/>
            <a:ext cx="105727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SHAP assigns each feature a contribution—turning a powerful model into an auditable business tool.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01500" y="971550"/>
            <a:ext cx="4953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677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Transparency builds business trust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5499" y="2186264"/>
            <a:ext cx="9586452" cy="743847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001250" y="32004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Contract Type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39750" y="3257550"/>
            <a:ext cx="3143250" cy="285750"/>
            <a:chOff x="0" y="0"/>
            <a:chExt cx="4191000" cy="38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2525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191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001250" y="40767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Tenure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39750" y="4133850"/>
            <a:ext cx="2743200" cy="285750"/>
            <a:chOff x="0" y="0"/>
            <a:chExt cx="3657600" cy="38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381000"/>
            </a:xfrm>
            <a:custGeom>
              <a:avLst/>
              <a:gdLst/>
              <a:ahLst/>
              <a:cxnLst/>
              <a:rect r="r" b="b" t="t" l="l"/>
              <a:pathLst>
                <a:path h="381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252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576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01250" y="49530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Monthly Charges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239750" y="5010150"/>
            <a:ext cx="2343150" cy="285750"/>
            <a:chOff x="0" y="0"/>
            <a:chExt cx="3124200" cy="38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2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1242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01250" y="58293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 Support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239750" y="5886450"/>
            <a:ext cx="1943100" cy="285750"/>
            <a:chOff x="0" y="0"/>
            <a:chExt cx="2590800" cy="38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90800" cy="381000"/>
            </a:xfrm>
            <a:custGeom>
              <a:avLst/>
              <a:gdLst/>
              <a:ahLst/>
              <a:cxnLst/>
              <a:rect r="r" b="b" t="t" l="l"/>
              <a:pathLst>
                <a:path h="3810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908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01250" y="67056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Online Security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239750" y="6762750"/>
            <a:ext cx="1543050" cy="285750"/>
            <a:chOff x="0" y="0"/>
            <a:chExt cx="205740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7400" cy="381000"/>
            </a:xfrm>
            <a:custGeom>
              <a:avLst/>
              <a:gdLst/>
              <a:ahLst/>
              <a:cxnLst/>
              <a:rect r="r" b="b" t="t" l="l"/>
              <a:pathLst>
                <a:path h="38100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574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01250" y="7581900"/>
            <a:ext cx="31432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82536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Total Charges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239750" y="7639050"/>
            <a:ext cx="1143000" cy="285750"/>
            <a:chOff x="0" y="0"/>
            <a:chExt cx="1524000" cy="38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23900"/>
            <a:ext cx="13144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signals define the retention agenda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476500"/>
            <a:ext cx="4953000" cy="2667000"/>
            <a:chOff x="0" y="0"/>
            <a:chExt cx="6604000" cy="355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07182B"/>
              </a:solidFill>
              <a:ln w="9525" cap="sq">
                <a:solidFill>
                  <a:srgbClr val="07182B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44500" y="511175"/>
              <a:ext cx="5588000" cy="991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Month-to-month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contracts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4500" y="19494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D5E4F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Highest likelihood to churn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2476500"/>
            <a:ext cx="4953000" cy="2667000"/>
            <a:chOff x="0" y="0"/>
            <a:chExt cx="6604000" cy="355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4500" y="511175"/>
              <a:ext cx="5588000" cy="991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Low tenure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customers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44500" y="19494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Early relationship is fragile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49100" y="2476500"/>
            <a:ext cx="4953000" cy="2667000"/>
            <a:chOff x="0" y="0"/>
            <a:chExt cx="6604000" cy="3556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4500" y="511175"/>
              <a:ext cx="5588000" cy="991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Higher monthly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charges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500" y="19494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Value perception is under pressure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0600" y="5715000"/>
            <a:ext cx="4953000" cy="2667000"/>
            <a:chOff x="0" y="0"/>
            <a:chExt cx="6604000" cy="355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4500" y="511175"/>
              <a:ext cx="5588000" cy="991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Online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Security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4500" y="19494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Protection gap raises risk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19850" y="5715000"/>
            <a:ext cx="4953000" cy="2667000"/>
            <a:chOff x="0" y="0"/>
            <a:chExt cx="6604000" cy="3556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3556000"/>
              <a:chOff x="0" y="0"/>
              <a:chExt cx="6604000" cy="3556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44500" y="511175"/>
              <a:ext cx="5588000" cy="991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Tech</a:t>
              </a:r>
            </a:p>
            <a:p>
              <a:pPr algn="l">
                <a:lnSpc>
                  <a:spcPts val="2916"/>
                </a:lnSpc>
              </a:pPr>
              <a:r>
                <a:rPr lang="en-US" sz="2700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Support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44500" y="19494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Service confidence declines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1285875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825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Turn prediction into a retention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90650"/>
            <a:ext cx="10287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61718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Prioritize interventions by customer moment, value, and predicted risk.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762250"/>
            <a:ext cx="7524750" cy="1619250"/>
            <a:chOff x="0" y="0"/>
            <a:chExt cx="10033000" cy="2159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Encourage long-term contracts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Convert flexibility into commitment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86850" y="2762250"/>
            <a:ext cx="7524750" cy="1619250"/>
            <a:chOff x="0" y="0"/>
            <a:chExt cx="10033000" cy="2159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 Incentivize new customers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Protect the first 90 days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0600" y="4857750"/>
            <a:ext cx="7524750" cy="1619250"/>
            <a:chOff x="0" y="0"/>
            <a:chExt cx="10033000" cy="2159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 Bundle services to increase value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Make the relationship stickier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86850" y="4857750"/>
            <a:ext cx="7524750" cy="1619250"/>
            <a:chOff x="0" y="0"/>
            <a:chExt cx="10033000" cy="2159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 Promote security &amp; support add-ons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Close the confidence gap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" y="6953250"/>
            <a:ext cx="7524750" cy="1619250"/>
            <a:chOff x="0" y="0"/>
            <a:chExt cx="10033000" cy="2159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8E2E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  Launch targeted retention campaigns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Match offer to risk and value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86850" y="6953250"/>
            <a:ext cx="7524750" cy="1619250"/>
            <a:chOff x="0" y="0"/>
            <a:chExt cx="10033000" cy="2159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033000" cy="2159000"/>
              <a:chOff x="0" y="0"/>
              <a:chExt cx="10033000" cy="2159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033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EAF2FF"/>
              </a:solidFill>
              <a:ln w="9525" cap="sq">
                <a:solidFill>
                  <a:srgbClr val="1677F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033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381000" y="317500"/>
              <a:ext cx="9271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18253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  Integrate scores into CRM workflows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990600" y="1098550"/>
              <a:ext cx="8255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61718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Trigger the next-best action automatically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B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1581150"/>
            <a:ext cx="10668000" cy="161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churn prediction</a:t>
            </a:r>
          </a:p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customer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3867150"/>
            <a:ext cx="1428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38C6F4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CLEAN  →  ENGINEER  →  BALANCE  →  TRAIN  →  EXPLAIN  →  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5791200"/>
            <a:ext cx="13525500" cy="27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725" i="true" b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“Data-driven retention strategies can significantly reduce customer churn and improve customer lifetime value.”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DAHYYypvAVw</dc:identifier>
  <dcterms:modified xsi:type="dcterms:W3CDTF">2011-08-01T06:04:30Z</dcterms:modified>
  <cp:revision>1</cp:revision>
  <dc:title>Telco Churn Prediction</dc:title>
</cp:coreProperties>
</file>